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61226"/>
          </a:xfrm>
          <a:prstGeom prst="rect">
            <a:avLst/>
          </a:prstGeom>
          <a:solidFill>
            <a:srgbClr val="96F7FC"/>
          </a:solidFill>
          <a:ln w="12700">
            <a:solidFill>
              <a:srgbClr val="96F7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2938"/>
            <a:ext cx="9144000" cy="661226"/>
          </a:xfrm>
          <a:prstGeom prst="rect">
            <a:avLst/>
          </a:prstGeom>
          <a:solidFill>
            <a:srgbClr val="A8F8FC"/>
          </a:solidFill>
          <a:ln w="12700">
            <a:solidFill>
              <a:srgbClr val="A8F8F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85875"/>
            <a:ext cx="9144000" cy="661226"/>
          </a:xfrm>
          <a:prstGeom prst="rect">
            <a:avLst/>
          </a:prstGeom>
          <a:solidFill>
            <a:srgbClr val="B8F9FD"/>
          </a:solidFill>
          <a:ln w="12700">
            <a:solidFill>
              <a:srgbClr val="B8F9F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928813"/>
            <a:ext cx="9144000" cy="661226"/>
          </a:xfrm>
          <a:prstGeom prst="rect">
            <a:avLst/>
          </a:prstGeom>
          <a:solidFill>
            <a:srgbClr val="C9FAFD"/>
          </a:solidFill>
          <a:ln w="12700">
            <a:solidFill>
              <a:srgbClr val="C9FAF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571750"/>
            <a:ext cx="9144000" cy="661226"/>
          </a:xfrm>
          <a:prstGeom prst="rect">
            <a:avLst/>
          </a:prstGeom>
          <a:solidFill>
            <a:srgbClr val="D8FBFD"/>
          </a:solidFill>
          <a:ln w="12700">
            <a:solidFill>
              <a:srgbClr val="D8FBF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214688"/>
            <a:ext cx="9144000" cy="661226"/>
          </a:xfrm>
          <a:prstGeom prst="rect">
            <a:avLst/>
          </a:prstGeom>
          <a:solidFill>
            <a:srgbClr val="E5FCFE"/>
          </a:solidFill>
          <a:ln w="12700">
            <a:solidFill>
              <a:srgbClr val="E5FCF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857625"/>
            <a:ext cx="9144000" cy="661226"/>
          </a:xfrm>
          <a:prstGeom prst="rect">
            <a:avLst/>
          </a:prstGeom>
          <a:solidFill>
            <a:srgbClr val="F1FDFE"/>
          </a:solidFill>
          <a:ln w="12700">
            <a:solidFill>
              <a:srgbClr val="F1FDF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500563"/>
            <a:ext cx="9144000" cy="66122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286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ГОСУДАРСТВЕННОЕ АВТОНОМНОЕ ПРОФЕССИОНАЛЬНОЕ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УЧРЕЖДЕНИЕ САРАТОВСКОЙ ОБЛАСТИ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«Балашовский техникум механизации сельского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хозяйства»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1520" y="1783080"/>
            <a:ext cx="7680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КУРСОВОЙ ПРОЕКТ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МДК 02.02. ИНСТРУМЕНТАЛЬНЫЕ СРЕДСТВА РАЗРАБОТКИ ПРОГРАММНОГО ОБЕСПЕЧЕНИЯ НА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ТЕМУ: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Создание веб-сайта ветеринарной клиники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«Лапа Помощи»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09360" y="338328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Подготовил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студент группы ИП-41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Кривошеев К.Д.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Преподаватель: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Сухова Л.Г.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2004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Балашов 2026г.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61226"/>
          </a:xfrm>
          <a:prstGeom prst="rect">
            <a:avLst/>
          </a:prstGeom>
          <a:solidFill>
            <a:srgbClr val="96F7FC"/>
          </a:solidFill>
          <a:ln w="12700">
            <a:solidFill>
              <a:srgbClr val="96F7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2938"/>
            <a:ext cx="9144000" cy="661226"/>
          </a:xfrm>
          <a:prstGeom prst="rect">
            <a:avLst/>
          </a:prstGeom>
          <a:solidFill>
            <a:srgbClr val="A8F8FC"/>
          </a:solidFill>
          <a:ln w="12700">
            <a:solidFill>
              <a:srgbClr val="A8F8F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85875"/>
            <a:ext cx="9144000" cy="661226"/>
          </a:xfrm>
          <a:prstGeom prst="rect">
            <a:avLst/>
          </a:prstGeom>
          <a:solidFill>
            <a:srgbClr val="B8F9FD"/>
          </a:solidFill>
          <a:ln w="12700">
            <a:solidFill>
              <a:srgbClr val="B8F9F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928813"/>
            <a:ext cx="9144000" cy="661226"/>
          </a:xfrm>
          <a:prstGeom prst="rect">
            <a:avLst/>
          </a:prstGeom>
          <a:solidFill>
            <a:srgbClr val="C9FAFD"/>
          </a:solidFill>
          <a:ln w="12700">
            <a:solidFill>
              <a:srgbClr val="C9FAF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571750"/>
            <a:ext cx="9144000" cy="661226"/>
          </a:xfrm>
          <a:prstGeom prst="rect">
            <a:avLst/>
          </a:prstGeom>
          <a:solidFill>
            <a:srgbClr val="D8FBFD"/>
          </a:solidFill>
          <a:ln w="12700">
            <a:solidFill>
              <a:srgbClr val="D8FBF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214688"/>
            <a:ext cx="9144000" cy="661226"/>
          </a:xfrm>
          <a:prstGeom prst="rect">
            <a:avLst/>
          </a:prstGeom>
          <a:solidFill>
            <a:srgbClr val="E5FCFE"/>
          </a:solidFill>
          <a:ln w="12700">
            <a:solidFill>
              <a:srgbClr val="E5FCF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857625"/>
            <a:ext cx="9144000" cy="661226"/>
          </a:xfrm>
          <a:prstGeom prst="rect">
            <a:avLst/>
          </a:prstGeom>
          <a:solidFill>
            <a:srgbClr val="F1FDFE"/>
          </a:solidFill>
          <a:ln w="12700">
            <a:solidFill>
              <a:srgbClr val="F1FDF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500563"/>
            <a:ext cx="9144000" cy="66122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8288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Анализ предметной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области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0080" y="1051560"/>
            <a:ext cx="46634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Ветеринарная клиника «Лапа Помощи» –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современный круглосуточный ветеринарный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центр, специализирующийся на диагностике,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терапии, хирургии и вакцинации собак,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кошек и мелких грызунов.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Основная цель клиники – предоставление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доказательной ветеринарной помощи без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стресса (Fear Free), удобной онлайн-записи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 узким специалистам и ведение электронной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медкарты каждого пациента.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40680" y="914400"/>
            <a:ext cx="3246120" cy="32461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29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508760"/>
            <a:ext cx="278892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ЛАПА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ПОМОЩИ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Ветеринарный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центр 24/7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61226"/>
          </a:xfrm>
          <a:prstGeom prst="rect">
            <a:avLst/>
          </a:prstGeom>
          <a:solidFill>
            <a:srgbClr val="96F7FC"/>
          </a:solidFill>
          <a:ln w="12700">
            <a:solidFill>
              <a:srgbClr val="96F7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2938"/>
            <a:ext cx="9144000" cy="661226"/>
          </a:xfrm>
          <a:prstGeom prst="rect">
            <a:avLst/>
          </a:prstGeom>
          <a:solidFill>
            <a:srgbClr val="A8F8FC"/>
          </a:solidFill>
          <a:ln w="12700">
            <a:solidFill>
              <a:srgbClr val="A8F8F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85875"/>
            <a:ext cx="9144000" cy="661226"/>
          </a:xfrm>
          <a:prstGeom prst="rect">
            <a:avLst/>
          </a:prstGeom>
          <a:solidFill>
            <a:srgbClr val="B8F9FD"/>
          </a:solidFill>
          <a:ln w="12700">
            <a:solidFill>
              <a:srgbClr val="B8F9F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928813"/>
            <a:ext cx="9144000" cy="661226"/>
          </a:xfrm>
          <a:prstGeom prst="rect">
            <a:avLst/>
          </a:prstGeom>
          <a:solidFill>
            <a:srgbClr val="C9FAFD"/>
          </a:solidFill>
          <a:ln w="12700">
            <a:solidFill>
              <a:srgbClr val="C9FAF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571750"/>
            <a:ext cx="9144000" cy="661226"/>
          </a:xfrm>
          <a:prstGeom prst="rect">
            <a:avLst/>
          </a:prstGeom>
          <a:solidFill>
            <a:srgbClr val="D8FBFD"/>
          </a:solidFill>
          <a:ln w="12700">
            <a:solidFill>
              <a:srgbClr val="D8FBF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214688"/>
            <a:ext cx="9144000" cy="661226"/>
          </a:xfrm>
          <a:prstGeom prst="rect">
            <a:avLst/>
          </a:prstGeom>
          <a:solidFill>
            <a:srgbClr val="E5FCFE"/>
          </a:solidFill>
          <a:ln w="12700">
            <a:solidFill>
              <a:srgbClr val="E5FCF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857625"/>
            <a:ext cx="9144000" cy="661226"/>
          </a:xfrm>
          <a:prstGeom prst="rect">
            <a:avLst/>
          </a:prstGeom>
          <a:solidFill>
            <a:srgbClr val="F1FDFE"/>
          </a:solidFill>
          <a:ln w="12700">
            <a:solidFill>
              <a:srgbClr val="F1FDF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500563"/>
            <a:ext cx="9144000" cy="66122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200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Выбор и анализ средств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для создания сайта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77240" y="1828800"/>
            <a:ext cx="1508760" cy="1874520"/>
          </a:xfrm>
          <a:prstGeom prst="roundRect">
            <a:avLst>
              <a:gd name="adj" fmla="val 6061"/>
            </a:avLst>
          </a:prstGeom>
          <a:solidFill>
            <a:srgbClr val="2D2D2D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0574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34F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27889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807208" y="1828800"/>
            <a:ext cx="1508760" cy="1874520"/>
          </a:xfrm>
          <a:prstGeom prst="roundRect">
            <a:avLst>
              <a:gd name="adj" fmla="val 6061"/>
            </a:avLst>
          </a:prstGeom>
          <a:solidFill>
            <a:srgbClr val="2D2D2D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07208" y="20574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807208" y="27889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37176" y="1828800"/>
            <a:ext cx="1508760" cy="1874520"/>
          </a:xfrm>
          <a:prstGeom prst="roundRect">
            <a:avLst>
              <a:gd name="adj" fmla="val 6061"/>
            </a:avLst>
          </a:prstGeom>
          <a:solidFill>
            <a:srgbClr val="2D2D2D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7176" y="20574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 / TS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37176" y="27889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&lt;/&gt;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67144" y="1828800"/>
            <a:ext cx="1508760" cy="1874520"/>
          </a:xfrm>
          <a:prstGeom prst="roundRect">
            <a:avLst>
              <a:gd name="adj" fmla="val 6061"/>
            </a:avLst>
          </a:prstGeom>
          <a:solidFill>
            <a:srgbClr val="2D2D2D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67144" y="20574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67144" y="27889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 / SQL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61226"/>
          </a:xfrm>
          <a:prstGeom prst="rect">
            <a:avLst/>
          </a:prstGeom>
          <a:solidFill>
            <a:srgbClr val="96F7FC"/>
          </a:solidFill>
          <a:ln w="12700">
            <a:solidFill>
              <a:srgbClr val="96F7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2938"/>
            <a:ext cx="9144000" cy="661226"/>
          </a:xfrm>
          <a:prstGeom prst="rect">
            <a:avLst/>
          </a:prstGeom>
          <a:solidFill>
            <a:srgbClr val="A8F8FC"/>
          </a:solidFill>
          <a:ln w="12700">
            <a:solidFill>
              <a:srgbClr val="A8F8F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85875"/>
            <a:ext cx="9144000" cy="661226"/>
          </a:xfrm>
          <a:prstGeom prst="rect">
            <a:avLst/>
          </a:prstGeom>
          <a:solidFill>
            <a:srgbClr val="B8F9FD"/>
          </a:solidFill>
          <a:ln w="12700">
            <a:solidFill>
              <a:srgbClr val="B8F9F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928813"/>
            <a:ext cx="9144000" cy="661226"/>
          </a:xfrm>
          <a:prstGeom prst="rect">
            <a:avLst/>
          </a:prstGeom>
          <a:solidFill>
            <a:srgbClr val="C9FAFD"/>
          </a:solidFill>
          <a:ln w="12700">
            <a:solidFill>
              <a:srgbClr val="C9FAF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571750"/>
            <a:ext cx="9144000" cy="661226"/>
          </a:xfrm>
          <a:prstGeom prst="rect">
            <a:avLst/>
          </a:prstGeom>
          <a:solidFill>
            <a:srgbClr val="D8FBFD"/>
          </a:solidFill>
          <a:ln w="12700">
            <a:solidFill>
              <a:srgbClr val="D8FBF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214688"/>
            <a:ext cx="9144000" cy="661226"/>
          </a:xfrm>
          <a:prstGeom prst="rect">
            <a:avLst/>
          </a:prstGeom>
          <a:solidFill>
            <a:srgbClr val="E5FCFE"/>
          </a:solidFill>
          <a:ln w="12700">
            <a:solidFill>
              <a:srgbClr val="E5FCF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857625"/>
            <a:ext cx="9144000" cy="661226"/>
          </a:xfrm>
          <a:prstGeom prst="rect">
            <a:avLst/>
          </a:prstGeom>
          <a:solidFill>
            <a:srgbClr val="F1FDFE"/>
          </a:solidFill>
          <a:ln w="12700">
            <a:solidFill>
              <a:srgbClr val="F1FDF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500563"/>
            <a:ext cx="9144000" cy="66122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8288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Цель курсового проекта: разработка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сайта «Лапа Помощи»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2514600" y="107899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EA5E9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0789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46120" y="1042416"/>
            <a:ext cx="5349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Разработать структуру и архитектуру веб-платформы ветеринарной клиники;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514600" y="184708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EA5E9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18470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46120" y="1810512"/>
            <a:ext cx="5349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Спроектировать пользовательский интерфейс, каталог услуг и калькулятор чек-апа;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514600" y="261518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EA5E9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6151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46120" y="2578608"/>
            <a:ext cx="5349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Реализовать веб-платформу с учётом ролевой модели (администратор, врач, клиент);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14600" y="33832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EA5E9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14600" y="33832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46120" y="3346704"/>
            <a:ext cx="5349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Обеспечить функционал личного кабинета клиента: онлайн-запись, медкарта питомца, талон приёма и перенос визита;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514600" y="4151376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EA5E9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14600" y="41513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246120" y="4114800"/>
            <a:ext cx="5349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Провести тестирование и оптимизацию платформы для корректной работы на различных устройствах.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61226"/>
          </a:xfrm>
          <a:prstGeom prst="rect">
            <a:avLst/>
          </a:prstGeom>
          <a:solidFill>
            <a:srgbClr val="96F7FC"/>
          </a:solidFill>
          <a:ln w="12700">
            <a:solidFill>
              <a:srgbClr val="96F7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2938"/>
            <a:ext cx="9144000" cy="661226"/>
          </a:xfrm>
          <a:prstGeom prst="rect">
            <a:avLst/>
          </a:prstGeom>
          <a:solidFill>
            <a:srgbClr val="A8F8FC"/>
          </a:solidFill>
          <a:ln w="12700">
            <a:solidFill>
              <a:srgbClr val="A8F8F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85875"/>
            <a:ext cx="9144000" cy="661226"/>
          </a:xfrm>
          <a:prstGeom prst="rect">
            <a:avLst/>
          </a:prstGeom>
          <a:solidFill>
            <a:srgbClr val="B8F9FD"/>
          </a:solidFill>
          <a:ln w="12700">
            <a:solidFill>
              <a:srgbClr val="B8F9F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928813"/>
            <a:ext cx="9144000" cy="661226"/>
          </a:xfrm>
          <a:prstGeom prst="rect">
            <a:avLst/>
          </a:prstGeom>
          <a:solidFill>
            <a:srgbClr val="C9FAFD"/>
          </a:solidFill>
          <a:ln w="12700">
            <a:solidFill>
              <a:srgbClr val="C9FAF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571750"/>
            <a:ext cx="9144000" cy="661226"/>
          </a:xfrm>
          <a:prstGeom prst="rect">
            <a:avLst/>
          </a:prstGeom>
          <a:solidFill>
            <a:srgbClr val="D8FBFD"/>
          </a:solidFill>
          <a:ln w="12700">
            <a:solidFill>
              <a:srgbClr val="D8FBF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214688"/>
            <a:ext cx="9144000" cy="661226"/>
          </a:xfrm>
          <a:prstGeom prst="rect">
            <a:avLst/>
          </a:prstGeom>
          <a:solidFill>
            <a:srgbClr val="E5FCFE"/>
          </a:solidFill>
          <a:ln w="12700">
            <a:solidFill>
              <a:srgbClr val="E5FCF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857625"/>
            <a:ext cx="9144000" cy="661226"/>
          </a:xfrm>
          <a:prstGeom prst="rect">
            <a:avLst/>
          </a:prstGeom>
          <a:solidFill>
            <a:srgbClr val="F1FDFE"/>
          </a:solidFill>
          <a:ln w="12700">
            <a:solidFill>
              <a:srgbClr val="F1FDF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500563"/>
            <a:ext cx="9144000" cy="66122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057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Демонстрация сайта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61226"/>
          </a:xfrm>
          <a:prstGeom prst="rect">
            <a:avLst/>
          </a:prstGeom>
          <a:solidFill>
            <a:srgbClr val="96F7FC"/>
          </a:solidFill>
          <a:ln w="12700">
            <a:solidFill>
              <a:srgbClr val="96F7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2938"/>
            <a:ext cx="9144000" cy="661226"/>
          </a:xfrm>
          <a:prstGeom prst="rect">
            <a:avLst/>
          </a:prstGeom>
          <a:solidFill>
            <a:srgbClr val="A8F8FC"/>
          </a:solidFill>
          <a:ln w="12700">
            <a:solidFill>
              <a:srgbClr val="A8F8F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85875"/>
            <a:ext cx="9144000" cy="661226"/>
          </a:xfrm>
          <a:prstGeom prst="rect">
            <a:avLst/>
          </a:prstGeom>
          <a:solidFill>
            <a:srgbClr val="B8F9FD"/>
          </a:solidFill>
          <a:ln w="12700">
            <a:solidFill>
              <a:srgbClr val="B8F9F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928813"/>
            <a:ext cx="9144000" cy="661226"/>
          </a:xfrm>
          <a:prstGeom prst="rect">
            <a:avLst/>
          </a:prstGeom>
          <a:solidFill>
            <a:srgbClr val="C9FAFD"/>
          </a:solidFill>
          <a:ln w="12700">
            <a:solidFill>
              <a:srgbClr val="C9FAF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571750"/>
            <a:ext cx="9144000" cy="661226"/>
          </a:xfrm>
          <a:prstGeom prst="rect">
            <a:avLst/>
          </a:prstGeom>
          <a:solidFill>
            <a:srgbClr val="D8FBFD"/>
          </a:solidFill>
          <a:ln w="12700">
            <a:solidFill>
              <a:srgbClr val="D8FBF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214688"/>
            <a:ext cx="9144000" cy="661226"/>
          </a:xfrm>
          <a:prstGeom prst="rect">
            <a:avLst/>
          </a:prstGeom>
          <a:solidFill>
            <a:srgbClr val="E5FCFE"/>
          </a:solidFill>
          <a:ln w="12700">
            <a:solidFill>
              <a:srgbClr val="E5FCF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857625"/>
            <a:ext cx="9144000" cy="661226"/>
          </a:xfrm>
          <a:prstGeom prst="rect">
            <a:avLst/>
          </a:prstGeom>
          <a:solidFill>
            <a:srgbClr val="F1FDFE"/>
          </a:solidFill>
          <a:ln w="12700">
            <a:solidFill>
              <a:srgbClr val="F1FDF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500563"/>
            <a:ext cx="9144000" cy="66122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057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СПАСИБО ЗА ВНИМАНИЕ!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Государственное автономное профессиональное образовательное учреждение Саратовской области «Балашовский техникум механизации сельского хозяйства»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информационного веб-сайта ветеринарной клиники «Лапа Помощи» для взаимодействия с клиентами</dc:title>
  <dc:subject>МДК 02.02. ИНСТРУМЕНТАЛЬНЫЕ СРЕДСТВА РАЗРАБОТКИ ПРОГРАММНОГО ОБЕСПЕЧЕНИЯ</dc:subject>
  <dc:creator>Кривошеев К.Д.</dc:creator>
  <cp:lastModifiedBy>Кривошеев К.Д.</cp:lastModifiedBy>
  <cp:revision>1</cp:revision>
  <dcterms:created xsi:type="dcterms:W3CDTF">2026-10-27T15:07:16Z</dcterms:created>
  <dcterms:modified xsi:type="dcterms:W3CDTF">2026-10-27T15:07:16Z</dcterms:modified>
</cp:coreProperties>
</file>